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paper, dataset and standard name is a live hyperlink. Papers whose DOI could not be verified link to a Google Scholar search rather than a guessed DOI.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eeexplore.ieee.org/document/10448310" TargetMode="External"/><Relationship Id="rId3" Type="http://schemas.openxmlformats.org/officeDocument/2006/relationships/hyperlink" Target="https://scholar.google.com/scholar?q=Complex+Ratio+Masking+for+Monaural+Speech+Separation+Williamson+Wang" TargetMode="External"/><Relationship Id="rId4" Type="http://schemas.openxmlformats.org/officeDocument/2006/relationships/hyperlink" Target="https://scholar.google.com/scholar?q=Derivation+of+auditory+filter+shapes+from+notched-noise+data+Glasberg+Moore" TargetMode="External"/><Relationship Id="rId5" Type="http://schemas.openxmlformats.org/officeDocument/2006/relationships/hyperlink" Target="https://scholar.google.com/scholar?q=A+consolidated+view+of+loss+functions+for+supervised+deep+learning+based+speech+enhancement" TargetMode="External"/><Relationship Id="rId6" Type="http://schemas.openxmlformats.org/officeDocument/2006/relationships/hyperlink" Target="https://arxiv.org/abs/1910.11480" TargetMode="External"/><Relationship Id="rId7" Type="http://schemas.openxmlformats.org/officeDocument/2006/relationships/hyperlink" Target="https://github.com/kaen2891/military_audio_dataset" TargetMode="External"/><Relationship Id="rId8" Type="http://schemas.openxmlformats.org/officeDocument/2006/relationships/hyperlink" Target="https://www.openslr.org/12" TargetMode="External"/><Relationship Id="rId9" Type="http://schemas.openxmlformats.org/officeDocument/2006/relationships/hyperlink" Target="https://datashare.ed.ac.uk/handle/10283/2791" TargetMode="External"/><Relationship Id="rId10" Type="http://schemas.openxmlformats.org/officeDocument/2006/relationships/hyperlink" Target="https://zenodo.org/records/1227121" TargetMode="External"/><Relationship Id="rId11" Type="http://schemas.openxmlformats.org/officeDocument/2006/relationships/hyperlink" Target="https://github.com/karolpiczak/ESC-50" TargetMode="External"/><Relationship Id="rId12" Type="http://schemas.openxmlformats.org/officeDocument/2006/relationships/hyperlink" Target="https://www.itu.int/rec/T-REC-P.862" TargetMode="External"/><Relationship Id="rId13" Type="http://schemas.openxmlformats.org/officeDocument/2006/relationships/hyperlink" Target="https://scholar.google.com/scholar?q=An+Algorithm+for+Intelligibility+Prediction+of+Time-Frequency+Weighted+Noisy+Speech+Taal" TargetMode="External"/><Relationship Id="rId14" Type="http://schemas.openxmlformats.org/officeDocument/2006/relationships/hyperlink" Target="https://arxiv.org/abs/1811.02508" TargetMode="External"/><Relationship Id="rId15" Type="http://schemas.openxmlformats.org/officeDocument/2006/relationships/hyperlink" Target="https://www.itu.int/rec/T-REC-G.114" TargetMode="External"/><Relationship Id="rId16" Type="http://schemas.openxmlformats.org/officeDocument/2006/relationships/hyperlink" Target="https://scholar.google.com/scholar?q=Suppression+of+acoustic+noise+in+speech+using+spectral+subtraction+Boll+1979" TargetMode="Externa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42359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F172A"/>
                </a:solidFill>
                <a:latin typeface="Cambria"/>
              </a:rP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932688"/>
            <a:ext cx="3649370" cy="5298948"/>
          </a:xfrm>
          <a:prstGeom prst="roundRect">
            <a:avLst>
              <a:gd name="adj" fmla="val 3500"/>
            </a:avLst>
          </a:prstGeom>
          <a:solidFill>
            <a:srgbClr val="EFF5FF"/>
          </a:solidFill>
          <a:ln w="12700">
            <a:solidFill>
              <a:srgbClr val="9FC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" y="1005840"/>
            <a:ext cx="3429914" cy="329184"/>
          </a:xfrm>
          <a:prstGeom prst="roundRect">
            <a:avLst>
              <a:gd name="adj" fmla="val 28000"/>
            </a:avLst>
          </a:prstGeom>
          <a:solidFill>
            <a:srgbClr val="BFDBFE"/>
          </a:solidFill>
          <a:ln w="12700">
            <a:solidFill>
              <a:srgbClr val="9FC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u="none">
                <a:solidFill>
                  <a:srgbClr val="1E3A8A"/>
                </a:solidFill>
                <a:latin typeface="Calibri"/>
              </a:rPr>
              <a:t>Model and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" y="14081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E3A8A"/>
                </a:solidFill>
                <a:latin typeface="Calibri"/>
                <a:hlinkClick r:id="rId2"/>
              </a:rPr>
              <a:t>GTCRN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Rong et al., ICASSP 2024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github.com/Xiaobin-Rong/gtcrn  ·  MIT licence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20939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E3A8A"/>
                </a:solidFill>
                <a:latin typeface="Calibri"/>
                <a:hlinkClick r:id="rId3"/>
              </a:rPr>
              <a:t>Complex Ratio Masking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Williamson, Wang &amp; Wang, IEEE/ACM TASLP 24(3), 2016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the complex mask our model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7797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E3A8A"/>
                </a:solidFill>
                <a:latin typeface="Calibri"/>
                <a:hlinkClick r:id="rId4"/>
              </a:rPr>
              <a:t>ERB auditory filters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Glasberg &amp; Moore, Hearing Research 47, 1990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the perceptual sub-band front 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9496" y="3502152"/>
            <a:ext cx="3338474" cy="0"/>
          </a:xfrm>
          <a:prstGeom prst="line">
            <a:avLst/>
          </a:prstGeom>
          <a:ln w="9525">
            <a:solidFill>
              <a:srgbClr val="9FC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9496" y="3566160"/>
            <a:ext cx="333847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u="none">
                <a:solidFill>
                  <a:srgbClr val="1E3A8A"/>
                </a:solidFill>
                <a:latin typeface="Calibri"/>
              </a:rPr>
              <a:t>LOSS FUNCTIONS IMPLEMENTED 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3831336"/>
            <a:ext cx="333847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E3A8A"/>
                </a:solidFill>
                <a:latin typeface="Calibri"/>
                <a:hlinkClick r:id="rId5"/>
              </a:rPr>
              <a:t>Braun &amp; Tashev, 2021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compressed magnitude, asymmetric anti-over-suppression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4526280"/>
            <a:ext cx="3338474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E3A8A"/>
                </a:solidFill>
                <a:latin typeface="Calibri"/>
                <a:hlinkClick r:id="rId6"/>
              </a:rPr>
              <a:t>Yamamoto, Song &amp; Kim, ICASSP 2020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multi-resolution STFT loss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" y="5074920"/>
            <a:ext cx="3338474" cy="0"/>
          </a:xfrm>
          <a:prstGeom prst="line">
            <a:avLst/>
          </a:prstGeom>
          <a:ln w="9525">
            <a:solidFill>
              <a:srgbClr val="9FC0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9496" y="5138928"/>
            <a:ext cx="333847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u="none">
                <a:solidFill>
                  <a:srgbClr val="1E3A8A"/>
                </a:solidFill>
                <a:latin typeface="Calibri"/>
              </a:rPr>
              <a:t>SURVEYED FOR CONTEXT, NOT 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5404104"/>
            <a:ext cx="3338474" cy="5074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u="none">
                <a:solidFill>
                  <a:srgbClr val="475569"/>
                </a:solidFill>
                <a:latin typeface="Calibri"/>
              </a:rPr>
              <a:t>Wang &amp; Chen, TASLP 2018 (overview)  ·  DCCRN, Interspeech 2020  ·  FullSubNet, ICASSP 2021  ·  DPRNN, ICASSP 2020  ·  DNS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1162" y="932688"/>
            <a:ext cx="3649370" cy="5298948"/>
          </a:xfrm>
          <a:prstGeom prst="roundRect">
            <a:avLst>
              <a:gd name="adj" fmla="val 3500"/>
            </a:avLst>
          </a:prstGeom>
          <a:solidFill>
            <a:srgbClr val="FFFBEF"/>
          </a:solidFill>
          <a:ln w="12700">
            <a:solidFill>
              <a:srgbClr val="E5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0890" y="1005840"/>
            <a:ext cx="3429914" cy="329184"/>
          </a:xfrm>
          <a:prstGeom prst="roundRect">
            <a:avLst>
              <a:gd name="adj" fmla="val 28000"/>
            </a:avLst>
          </a:prstGeom>
          <a:solidFill>
            <a:srgbClr val="FBD87F"/>
          </a:solidFill>
          <a:ln w="12700">
            <a:solidFill>
              <a:srgbClr val="E5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u="none">
                <a:solidFill>
                  <a:srgbClr val="7C4A03"/>
                </a:solidFill>
                <a:latin typeface="Calibri"/>
              </a:rPr>
              <a:t>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610" y="14081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7C4A03"/>
                </a:solidFill>
                <a:latin typeface="Calibri"/>
                <a:hlinkClick r:id="rId7"/>
              </a:rPr>
              <a:t>Military Audio Dataset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Kim, Yoon &amp; Jung, Scientific Data 11:668, 2024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CC BY 4.0  ·  primary defence noise  ·  5,655 train / 830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6610" y="20939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7C4A03"/>
                </a:solidFill>
                <a:latin typeface="Calibri"/>
                <a:hlinkClick r:id="rId8"/>
              </a:rPr>
              <a:t>LibriSpeech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Panayotov et al., ICASSP 2015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clean speech for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6610" y="27797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7C4A03"/>
                </a:solidFill>
                <a:latin typeface="Calibri"/>
                <a:hlinkClick r:id="rId9"/>
              </a:rPr>
              <a:t>VCTK-DEMAND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Valentini-Botinhao et al., Interspeech 2016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held-out evaluation only  ·  never trained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6610" y="34655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7C4A03"/>
                </a:solidFill>
                <a:latin typeface="Calibri"/>
                <a:hlinkClick r:id="rId10"/>
              </a:rPr>
              <a:t>DEMAND noise database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Thiemann, Ito &amp; Vincent, 2013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the noise half of VCTK-DEMAND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6610" y="41513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7C4A03"/>
                </a:solidFill>
                <a:latin typeface="Calibri"/>
                <a:hlinkClick r:id="rId11"/>
              </a:rPr>
              <a:t>ESC-50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Piczak, ACM Multimedia 2015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CC BY-NC  ·  siren and wind  ·  evaluation only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26610" y="4873752"/>
            <a:ext cx="3338474" cy="0"/>
          </a:xfrm>
          <a:prstGeom prst="line">
            <a:avLst/>
          </a:prstGeom>
          <a:ln w="9525">
            <a:solidFill>
              <a:srgbClr val="E5B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26610" y="4937760"/>
            <a:ext cx="333847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u="none">
                <a:solidFill>
                  <a:srgbClr val="7C4A03"/>
                </a:solidFill>
                <a:latin typeface="Calibri"/>
              </a:rPr>
              <a:t>LICENSING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6610" y="5202936"/>
            <a:ext cx="3338474" cy="5074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u="none">
                <a:solidFill>
                  <a:srgbClr val="475569"/>
                </a:solidFill>
                <a:latin typeface="Calibri"/>
              </a:rPr>
              <a:t>Every dataset licence verified. ESC-50 is CC BY-NC, so it is used for evaluation only and excluded from every deployment-facing claim.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8276" y="932688"/>
            <a:ext cx="3649370" cy="5298948"/>
          </a:xfrm>
          <a:prstGeom prst="roundRect">
            <a:avLst>
              <a:gd name="adj" fmla="val 3500"/>
            </a:avLst>
          </a:prstGeom>
          <a:solidFill>
            <a:srgbClr val="F4FCEE"/>
          </a:solidFill>
          <a:ln w="12700">
            <a:solidFill>
              <a:srgbClr val="9FD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8004" y="1005840"/>
            <a:ext cx="3429914" cy="329184"/>
          </a:xfrm>
          <a:prstGeom prst="roundRect">
            <a:avLst>
              <a:gd name="adj" fmla="val 28000"/>
            </a:avLst>
          </a:prstGeom>
          <a:solidFill>
            <a:srgbClr val="C7EFA6"/>
          </a:solidFill>
          <a:ln w="12700">
            <a:solidFill>
              <a:srgbClr val="9FD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u="none">
                <a:solidFill>
                  <a:srgbClr val="14532D"/>
                </a:solidFill>
                <a:latin typeface="Calibri"/>
              </a:rPr>
              <a:t>Metrics, Standards and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724" y="140817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4532D"/>
                </a:solidFill>
                <a:latin typeface="Calibri"/>
                <a:hlinkClick r:id="rId12"/>
              </a:rPr>
              <a:t>PESQ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ITU-T P.862 / P.862.2  ·  Rix et al., ICASSP 2001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perceptual quality  ·  target &gt; 2.5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724" y="2093976"/>
            <a:ext cx="333847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4532D"/>
                </a:solidFill>
                <a:latin typeface="Calibri"/>
                <a:hlinkClick r:id="rId13"/>
              </a:rPr>
              <a:t>STOI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Taal, Hendriks, Heusdens &amp; Jensen, IEEE TASLP 19(7), 2011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intelligibility  ·  target &gt; 0.85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3724" y="296265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4532D"/>
                </a:solidFill>
                <a:latin typeface="Calibri"/>
                <a:hlinkClick r:id="rId14"/>
              </a:rPr>
              <a:t>SI-SNR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Le Roux, Wisdom, Erdogan &amp; Hershey, ICASSP 2019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target &gt; 15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3724" y="3648456"/>
            <a:ext cx="3338474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4532D"/>
                </a:solidFill>
                <a:latin typeface="Calibri"/>
                <a:hlinkClick r:id="rId15"/>
              </a:rPr>
              <a:t>ITU-T G.114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One-way transmission time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the 150 ms budget our 83.6 ms is measured against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724" y="4334256"/>
            <a:ext cx="333847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u="none">
                <a:solidFill>
                  <a:srgbClr val="14532D"/>
                </a:solidFill>
                <a:latin typeface="Calibri"/>
                <a:hlinkClick r:id="rId16"/>
              </a:rPr>
              <a:t>Spectral subtraction</a:t>
            </a:r>
          </a:p>
          <a:p>
            <a:r>
              <a:rPr sz="1000" b="0" u="none">
                <a:solidFill>
                  <a:srgbClr val="475569"/>
                </a:solidFill>
                <a:latin typeface="Calibri"/>
              </a:rPr>
              <a:t>Boll, IEEE TASSP 27(2), 1979</a:t>
            </a:r>
          </a:p>
          <a:p>
            <a:r>
              <a:rPr sz="900" b="0" u="none">
                <a:solidFill>
                  <a:srgbClr val="7A8798"/>
                </a:solidFill>
                <a:latin typeface="Calibri"/>
              </a:rPr>
              <a:t>our classical baseline  ·  +0.57 on engines, +0.07 on gunfire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13724" y="5230368"/>
            <a:ext cx="3338475" cy="0"/>
          </a:xfrm>
          <a:prstGeom prst="line">
            <a:avLst/>
          </a:prstGeom>
          <a:ln w="9525">
            <a:solidFill>
              <a:srgbClr val="9FD3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13724" y="5294376"/>
            <a:ext cx="333847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u="none">
                <a:solidFill>
                  <a:srgbClr val="14532D"/>
                </a:solidFill>
                <a:latin typeface="Calibri"/>
              </a:rPr>
              <a:t>TOOLCHAIN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724" y="5559552"/>
            <a:ext cx="3338474" cy="5074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u="none">
                <a:solidFill>
                  <a:srgbClr val="475569"/>
                </a:solidFill>
                <a:latin typeface="Calibri"/>
              </a:rPr>
              <a:t>PyTorch 2.13  ·  ONNX Runtime 1.29 (opset 11)  ·  onnx-simplifier 0.7.3  ·  silero-vad 6.2.1  ·  pesq / pystoi  ·  Raspberry Pi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